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png"/><Relationship Id="rId3" Type="http://schemas.openxmlformats.org/officeDocument/2006/relationships/image" Target="../media/image-4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F5FA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475283"/>
            <a:ext cx="4152900" cy="4667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60"/>
              </a:lnSpc>
              <a:buNone/>
            </a:pPr>
            <a:r>
              <a:rPr lang="en-US" sz="3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A-Level 课程体系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71500" y="1073907"/>
            <a:ext cx="4152900" cy="2333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30"/>
              </a:lnSpc>
              <a:buNone/>
            </a:pPr>
            <a:r>
              <a:rPr lang="en-US" sz="15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与升学｜首期教师专题研修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1500" y="1714277"/>
            <a:ext cx="6477000" cy="152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7"/>
              </a:lnSpc>
              <a:buNone/>
            </a:pPr>
            <a:r>
              <a:rPr lang="en-US" sz="900" dirty="0">
                <a:solidFill>
                  <a:srgbClr val="8CCFE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统一体系语言 · 对齐 CAIE 规则 · 连接选课与升学 · 落到教学运行 · 建立可复用资料库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1500" y="2018928"/>
            <a:ext cx="6477000" cy="1857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2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聚力启新程 研思向国际｜侨高国际部｜教师培训首期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BFE8F2"/>
          </a:solidFill>
          <a:ln/>
        </p:spPr>
      </p:sp>
      <p:sp>
        <p:nvSpPr>
          <p:cNvPr id="8" name="Shape 6"/>
          <p:cNvSpPr/>
          <p:nvPr/>
        </p:nvSpPr>
        <p:spPr>
          <a:xfrm>
            <a:off x="5524500" y="600075"/>
            <a:ext cx="3048000" cy="3619500"/>
          </a:xfrm>
          <a:prstGeom prst="rect">
            <a:avLst/>
          </a:prstGeom>
          <a:solidFill>
            <a:srgbClr val="2D9CC4">
              <a:alpha val="92000"/>
            </a:srgbClr>
          </a:solidFill>
          <a:ln w="4763">
            <a:solidFill>
              <a:srgbClr val="FFFFFF">
                <a:alpha val="28000"/>
              </a:srgbClr>
            </a:solidFill>
            <a:prstDash val="solid"/>
          </a:ln>
          <a:effectLst>
            <a:outerShdw sx="100000" sy="100000" kx="0" ky="0" algn="bl" rotWithShape="0" blurRad="381000" dist="133350" dir="5400000">
              <a:srgbClr val="207696">
                <a:alpha val="2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29288" y="814388"/>
            <a:ext cx="2638425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Pathway Map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28097" y="1128713"/>
            <a:ext cx="619125" cy="438150"/>
          </a:xfrm>
          <a:prstGeom prst="rect">
            <a:avLst/>
          </a:prstGeom>
          <a:solidFill>
            <a:srgbClr val="FFFFFF">
              <a:alpha val="10000"/>
            </a:srgbClr>
          </a:solidFill>
          <a:ln w="4763">
            <a:solidFill>
              <a:srgbClr val="FFFFFF">
                <a:alpha val="34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1991" y="1128713"/>
            <a:ext cx="619125" cy="438150"/>
          </a:xfrm>
          <a:prstGeom prst="rect">
            <a:avLst/>
          </a:prstGeom>
          <a:solidFill>
            <a:srgbClr val="FFFFFF">
              <a:alpha val="10000"/>
            </a:srgbClr>
          </a:solidFill>
          <a:ln w="4763">
            <a:solidFill>
              <a:srgbClr val="FFFFFF">
                <a:alpha val="34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75884" y="1128713"/>
            <a:ext cx="619125" cy="438150"/>
          </a:xfrm>
          <a:prstGeom prst="rect">
            <a:avLst/>
          </a:prstGeom>
          <a:solidFill>
            <a:srgbClr val="D2A148">
              <a:alpha val="22000"/>
            </a:srgbClr>
          </a:solidFill>
          <a:ln w="4763">
            <a:solidFill>
              <a:srgbClr val="FFFFFF">
                <a:alpha val="34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3CF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49778" y="1128713"/>
            <a:ext cx="619125" cy="438150"/>
          </a:xfrm>
          <a:prstGeom prst="rect">
            <a:avLst/>
          </a:prstGeom>
          <a:solidFill>
            <a:srgbClr val="FFFFFF"/>
          </a:solidFill>
          <a:ln w="4763">
            <a:solidFill>
              <a:srgbClr val="FFFFFF">
                <a:alpha val="34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29288" y="1766143"/>
            <a:ext cx="263842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SYSTEM</a:t>
            </a:r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 · 考务 · 评价 · 升学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729288" y="2037755"/>
            <a:ext cx="2638425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EVIDENCE</a:t>
            </a:r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Syllabus / Paper / Threshold / Portfolio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5729288" y="2447479"/>
            <a:ext cx="263842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FOCUS</a:t>
            </a:r>
            <a:pPr algn="l" indent="0" marL="0">
              <a:lnSpc>
                <a:spcPts val="111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先统一体系语言，再进入学科执行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729288" y="2851547"/>
            <a:ext cx="2638425" cy="2047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F3CF7A"/>
                </a:solidFill>
                <a:highlight>
                  <a:srgbClr val="D2A148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UK</a:t>
            </a:r>
            <a:pPr algn="l" indent="0" marL="0">
              <a:buNone/>
            </a:pPr>
            <a:r>
              <a:rPr lang="en-US" sz="600" dirty="0">
                <a:solidFill>
                  <a:srgbClr val="F3CF7A"/>
                </a:solidFill>
                <a:highlight>
                  <a:srgbClr val="D2A148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HK</a:t>
            </a:r>
            <a:pPr algn="l" indent="0" marL="0">
              <a:buNone/>
            </a:pPr>
            <a:r>
              <a:rPr lang="en-US" sz="600" dirty="0">
                <a:solidFill>
                  <a:srgbClr val="F3CF7A"/>
                </a:solidFill>
                <a:highlight>
                  <a:srgbClr val="D2A148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SG</a:t>
            </a:r>
            <a:pPr algn="l" indent="0" marL="0">
              <a:buNone/>
            </a:pPr>
            <a:r>
              <a:rPr lang="en-US" sz="600" dirty="0">
                <a:solidFill>
                  <a:srgbClr val="F3CF7A"/>
                </a:solidFill>
                <a:highlight>
                  <a:srgbClr val="D2A148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AU</a:t>
            </a:r>
            <a:pPr algn="l" indent="0" marL="0">
              <a:buNone/>
            </a:pPr>
            <a:r>
              <a:rPr lang="en-US" sz="600" dirty="0">
                <a:solidFill>
                  <a:srgbClr val="F3CF7A"/>
                </a:solidFill>
                <a:highlight>
                  <a:srgbClr val="D2A148"/>
                </a:highlight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US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571946" y="4262438"/>
            <a:ext cx="2652713" cy="223838"/>
          </a:xfrm>
          <a:prstGeom prst="rect">
            <a:avLst/>
          </a:prstGeom>
          <a:ln w="4763">
            <a:solidFill>
              <a:srgbClr val="2D9CC4">
                <a:alpha val="28000"/>
              </a:srgbClr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TEACHER TRAINING · INTERNATIONAL CURRICULUM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495300" y="4629150"/>
            <a:ext cx="3286125" cy="9525"/>
          </a:xfrm>
          <a:prstGeom prst="rect">
            <a:avLst/>
          </a:prstGeom>
          <a:solidFill>
            <a:srgbClr val="2D9CC4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29288" y="1766143"/>
            <a:ext cx="2638425" cy="204787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9288" y="2037755"/>
            <a:ext cx="2638425" cy="342900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29288" y="2447479"/>
            <a:ext cx="2638425" cy="2047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9144000" cy="157162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66675" cy="5143500"/>
          </a:xfrm>
          <a:prstGeom prst="rect">
            <a:avLst/>
          </a:prstGeom>
          <a:solidFill>
            <a:srgbClr val="D2A148"/>
          </a:solidFill>
          <a:ln/>
        </p:spPr>
      </p:sp>
      <p:sp>
        <p:nvSpPr>
          <p:cNvPr id="5" name="Text 2"/>
          <p:cNvSpPr/>
          <p:nvPr/>
        </p:nvSpPr>
        <p:spPr>
          <a:xfrm>
            <a:off x="666750" y="485961"/>
            <a:ext cx="1714500" cy="3714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目录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66750" y="980108"/>
            <a:ext cx="7810500" cy="2286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从体系认知进入运行规则，再到学生画像、选课升学和教学动作。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143750" y="533400"/>
            <a:ext cx="1333500" cy="276225"/>
          </a:xfrm>
          <a:prstGeom prst="roundRect">
            <a:avLst>
              <a:gd name="adj" fmla="val 8561"/>
            </a:avLst>
          </a:prstGeom>
          <a:solidFill>
            <a:srgbClr val="2D9C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75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 个模块 / 46 页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66750" y="1704975"/>
            <a:ext cx="3762375" cy="619125"/>
          </a:xfrm>
          <a:prstGeom prst="roundRect">
            <a:avLst>
              <a:gd name="adj" fmla="val 6817"/>
            </a:avLst>
          </a:prstGeom>
          <a:solidFill>
            <a:srgbClr val="E6F5FA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3912" y="1852612"/>
            <a:ext cx="228600" cy="228600"/>
          </a:xfrm>
          <a:prstGeom prst="ellipse">
            <a:avLst/>
          </a:prstGeom>
          <a:solidFill>
            <a:srgbClr val="2D9C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204912" y="1843236"/>
            <a:ext cx="3057525" cy="3952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8"/>
              </a:lnSpc>
              <a:buNone/>
            </a:pPr>
            <a:r>
              <a:rPr lang="en-US" sz="1100" b="1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A-Level 体系全貌：阶段、资格、学科菜单、国际评价逻辑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33437" y="2295525"/>
            <a:ext cx="3429000" cy="23812"/>
          </a:xfrm>
          <a:prstGeom prst="rect">
            <a:avLst/>
          </a:prstGeom>
          <a:solidFill>
            <a:srgbClr val="2D9CC4"/>
          </a:solidFill>
          <a:ln/>
        </p:spPr>
      </p:sp>
      <p:sp>
        <p:nvSpPr>
          <p:cNvPr id="12" name="Shape 9"/>
          <p:cNvSpPr/>
          <p:nvPr/>
        </p:nvSpPr>
        <p:spPr>
          <a:xfrm>
            <a:off x="4714875" y="1704975"/>
            <a:ext cx="3762375" cy="619125"/>
          </a:xfrm>
          <a:prstGeom prst="roundRect">
            <a:avLst>
              <a:gd name="adj" fmla="val 6817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72038" y="1852612"/>
            <a:ext cx="228600" cy="228600"/>
          </a:xfrm>
          <a:prstGeom prst="ellipse">
            <a:avLst/>
          </a:prstGeom>
          <a:solidFill>
            <a:srgbClr val="2D9C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253037" y="1843236"/>
            <a:ext cx="3057525" cy="3952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8"/>
              </a:lnSpc>
              <a:buNone/>
            </a:pPr>
            <a:r>
              <a:rPr lang="en-US" sz="1100" b="1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CAIE 运行规则：考试季、zone、entry option、paper、合分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881562" y="2295525"/>
            <a:ext cx="3429000" cy="23812"/>
          </a:xfrm>
          <a:prstGeom prst="rect">
            <a:avLst/>
          </a:prstGeom>
          <a:solidFill>
            <a:srgbClr val="2D9CC4"/>
          </a:solidFill>
          <a:ln/>
        </p:spPr>
      </p:sp>
      <p:sp>
        <p:nvSpPr>
          <p:cNvPr id="16" name="Shape 13"/>
          <p:cNvSpPr/>
          <p:nvPr/>
        </p:nvSpPr>
        <p:spPr>
          <a:xfrm>
            <a:off x="666750" y="2466975"/>
            <a:ext cx="3762375" cy="619125"/>
          </a:xfrm>
          <a:prstGeom prst="roundRect">
            <a:avLst>
              <a:gd name="adj" fmla="val 6817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3912" y="2614613"/>
            <a:ext cx="228600" cy="228600"/>
          </a:xfrm>
          <a:prstGeom prst="ellipse">
            <a:avLst/>
          </a:prstGeom>
          <a:solidFill>
            <a:srgbClr val="2D9C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204912" y="2605236"/>
            <a:ext cx="3057525" cy="3952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8"/>
              </a:lnSpc>
              <a:buNone/>
            </a:pPr>
            <a:r>
              <a:rPr lang="en-US" sz="1100" b="1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IG 桥梁与学生画像：诊断、分层、学科功能、语言支架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33437" y="3057525"/>
            <a:ext cx="3429000" cy="23812"/>
          </a:xfrm>
          <a:prstGeom prst="rect">
            <a:avLst/>
          </a:prstGeom>
          <a:solidFill>
            <a:srgbClr val="2D9CC4"/>
          </a:solidFill>
          <a:ln/>
        </p:spPr>
      </p:sp>
      <p:sp>
        <p:nvSpPr>
          <p:cNvPr id="20" name="Shape 17"/>
          <p:cNvSpPr/>
          <p:nvPr/>
        </p:nvSpPr>
        <p:spPr>
          <a:xfrm>
            <a:off x="4714875" y="2466975"/>
            <a:ext cx="3762375" cy="619125"/>
          </a:xfrm>
          <a:prstGeom prst="roundRect">
            <a:avLst>
              <a:gd name="adj" fmla="val 6817"/>
            </a:avLst>
          </a:prstGeom>
          <a:solidFill>
            <a:srgbClr val="E6F5FA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72038" y="2614613"/>
            <a:ext cx="228600" cy="228600"/>
          </a:xfrm>
          <a:prstGeom prst="ellipse">
            <a:avLst/>
          </a:prstGeom>
          <a:solidFill>
            <a:srgbClr val="2D9C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253037" y="2603971"/>
            <a:ext cx="3057525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8"/>
              </a:lnSpc>
              <a:buNone/>
            </a:pPr>
            <a:r>
              <a:rPr lang="en-US" sz="1100" b="1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选课与升学路径：英港新澳美、牛娃/普娃路径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81562" y="3057525"/>
            <a:ext cx="3429000" cy="23812"/>
          </a:xfrm>
          <a:prstGeom prst="rect">
            <a:avLst/>
          </a:prstGeom>
          <a:solidFill>
            <a:srgbClr val="2D9CC4"/>
          </a:solidFill>
          <a:ln/>
        </p:spPr>
      </p:sp>
      <p:sp>
        <p:nvSpPr>
          <p:cNvPr id="24" name="Shape 21"/>
          <p:cNvSpPr/>
          <p:nvPr/>
        </p:nvSpPr>
        <p:spPr>
          <a:xfrm>
            <a:off x="666750" y="3228975"/>
            <a:ext cx="7810500" cy="628650"/>
          </a:xfrm>
          <a:prstGeom prst="roundRect">
            <a:avLst>
              <a:gd name="adj" fmla="val 661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3912" y="3376612"/>
            <a:ext cx="228600" cy="228600"/>
          </a:xfrm>
          <a:prstGeom prst="ellipse">
            <a:avLst/>
          </a:prstGeom>
          <a:solidFill>
            <a:srgbClr val="2D9C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204913" y="3365971"/>
            <a:ext cx="7105650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8"/>
              </a:lnSpc>
              <a:buNone/>
            </a:pPr>
            <a:r>
              <a:rPr lang="en-US" sz="1100" b="1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教学运行与行动清单：背景提升、资料库、专题排期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33438" y="3829050"/>
            <a:ext cx="7477125" cy="23812"/>
          </a:xfrm>
          <a:prstGeom prst="rect">
            <a:avLst/>
          </a:prstGeom>
          <a:solidFill>
            <a:srgbClr val="2D9CC4"/>
          </a:solidFill>
          <a:ln/>
        </p:spPr>
      </p:sp>
      <p:sp>
        <p:nvSpPr>
          <p:cNvPr id="28" name="Text 25"/>
          <p:cNvSpPr/>
          <p:nvPr/>
        </p:nvSpPr>
        <p:spPr>
          <a:xfrm>
            <a:off x="666750" y="4362450"/>
            <a:ext cx="7810500" cy="371475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5"/>
              </a:lnSpc>
              <a:buNone/>
            </a:pPr>
            <a:r>
              <a:rPr lang="en-US" sz="9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先建立共同语言，再把考试、选课、升学和课堂动作串成可执行路径。</a:t>
            </a:r>
            <a:endParaRPr lang="en-US" sz="9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750" y="4362450"/>
            <a:ext cx="7810500" cy="3714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81633"/>
            <a:ext cx="800100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3"/>
              </a:lnSpc>
              <a:buNone/>
            </a:pPr>
            <a:r>
              <a:rPr lang="en-US" sz="19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信息差不补齐，教学会各说各话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81000" y="710468"/>
            <a:ext cx="800100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今天不是所有问题的终点，而是把后续教研、升学沟通和课堂执行放到同一张地图上。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1000" y="1190625"/>
            <a:ext cx="4114800" cy="3533775"/>
          </a:xfrm>
          <a:prstGeom prst="roundRect">
            <a:avLst>
              <a:gd name="adj" fmla="val 558"/>
            </a:avLst>
          </a:prstGeom>
          <a:solidFill>
            <a:srgbClr val="E6F5FA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788" y="1347527"/>
            <a:ext cx="37052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本次建立框架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788" y="1650913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 A-Level、IG、AS、A2、完整资格等基本概念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5788" y="1848631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讲清试卷命名、component、合分和 grade threshold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5788" y="2046350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建立选课与升学查询逻辑，避免凭经验拍脑袋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5788" y="2244068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明确教师在预估分、推荐信、材料证据中的角色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48200" y="1190625"/>
            <a:ext cx="4114800" cy="3533775"/>
          </a:xfrm>
          <a:prstGeom prst="roundRect">
            <a:avLst>
              <a:gd name="adj" fmla="val 558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2987" y="1347527"/>
            <a:ext cx="37052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下次进入工具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52987" y="1650913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各科 syllabus 深读：AO、content、paper structure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52987" y="1848631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近五年真题包：paper、mark scheme、examiner report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52987" y="2046350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年度进度表：topic map、课时、mock、补弱节点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52987" y="2244068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课型观摩：语言支架、实验、分层任务、反馈闭环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9CC4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76250"/>
            <a:ext cx="8001000" cy="381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A-Level 是大学预备资格体系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933450"/>
            <a:ext cx="8001000" cy="2667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AF9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它不是“英国高考”的简单替代，而是课程选择、考试设计、等级认证和大学录取共同运行。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81000" y="2100262"/>
            <a:ext cx="2157413" cy="666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5200" b="1" dirty="0">
                <a:solidFill>
                  <a:srgbClr val="FFE2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55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81000" y="2880792"/>
            <a:ext cx="2157413" cy="285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00" dirty="0">
                <a:solidFill>
                  <a:srgbClr val="EAF9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 &amp; A Level 学科总数；菜单大不等于学校都要开，先看师资、学生画像和升学方向。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300413" y="2100262"/>
            <a:ext cx="2157413" cy="666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5200" b="1" dirty="0">
                <a:solidFill>
                  <a:srgbClr val="FFE2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70+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300413" y="2880531"/>
            <a:ext cx="2157413" cy="4286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00" dirty="0">
                <a:solidFill>
                  <a:srgbClr val="EAF9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IGCSE / O Level 学科规模；覆盖更广，适合作为语言、方法、实验和学科兴趣的桥梁。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219825" y="2100262"/>
            <a:ext cx="2157413" cy="666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5200" b="1" dirty="0">
                <a:solidFill>
                  <a:srgbClr val="FFE2A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3-4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6219825" y="2880792"/>
            <a:ext cx="2157413" cy="285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00" dirty="0">
                <a:solidFill>
                  <a:srgbClr val="EAF9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学生常见深入学习科目数；少而精，深度优先，选错科会直接影响可申请专业。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1000" y="4200302"/>
            <a:ext cx="7143750" cy="2238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200" dirty="0">
                <a:solidFill>
                  <a:srgbClr val="F4FCF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老师从第一节课开始就要对齐 syllabus、paper 和升学要求，而不是只跟教材目录走。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09575"/>
            <a:ext cx="8001000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IG、AS、A2 与完整 A-Level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819150"/>
            <a:ext cx="8001000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桥梁、阶段、完整资格；老师要知道每个阶段解决什么问题、留下什么证据。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0181" y="1457660"/>
            <a:ext cx="2871788" cy="1081087"/>
          </a:xfrm>
          <a:prstGeom prst="rect">
            <a:avLst/>
          </a:prstGeom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5763" y="1462088"/>
            <a:ext cx="342900" cy="342900"/>
          </a:xfrm>
          <a:prstGeom prst="ellipse">
            <a:avLst/>
          </a:prstGeom>
          <a:solidFill>
            <a:srgbClr val="D2A14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7844" y="1626394"/>
            <a:ext cx="2290762" cy="14288"/>
          </a:xfrm>
          <a:prstGeom prst="rect">
            <a:avLst/>
          </a:prstGeom>
          <a:solidFill>
            <a:srgbClr val="D2A148"/>
          </a:solidFill>
          <a:ln/>
        </p:spPr>
      </p:sp>
      <p:sp>
        <p:nvSpPr>
          <p:cNvPr id="8" name="Text 6"/>
          <p:cNvSpPr/>
          <p:nvPr/>
        </p:nvSpPr>
        <p:spPr>
          <a:xfrm>
            <a:off x="384944" y="1995376"/>
            <a:ext cx="2633662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国际课程适应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944" y="2262411"/>
            <a:ext cx="2633662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完成语言、评价方式、实验习惯和学习方式切换；建立术语表、错题本、阅读记录和基础诊断。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50369" y="1457660"/>
            <a:ext cx="2871788" cy="1081087"/>
          </a:xfrm>
          <a:prstGeom prst="rect">
            <a:avLst/>
          </a:prstGeom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5913" y="1462088"/>
            <a:ext cx="342900" cy="342900"/>
          </a:xfrm>
          <a:prstGeom prst="ellipse">
            <a:avLst/>
          </a:prstGeom>
          <a:solidFill>
            <a:srgbClr val="D2A14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98032" y="1626394"/>
            <a:ext cx="2290762" cy="14288"/>
          </a:xfrm>
          <a:prstGeom prst="rect">
            <a:avLst/>
          </a:prstGeom>
          <a:solidFill>
            <a:srgbClr val="D2A148"/>
          </a:solidFill>
          <a:ln/>
        </p:spPr>
      </p:sp>
      <p:sp>
        <p:nvSpPr>
          <p:cNvPr id="13" name="Text 11"/>
          <p:cNvSpPr/>
          <p:nvPr/>
        </p:nvSpPr>
        <p:spPr>
          <a:xfrm>
            <a:off x="3255132" y="1995376"/>
            <a:ext cx="2633662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第一阶段成绩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55132" y="2262411"/>
            <a:ext cx="2633662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形成学科深度和阶段成绩；mock、topic test 与课堂表现会支撑预估分和申请材料。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0594" y="1457660"/>
            <a:ext cx="2643188" cy="1081087"/>
          </a:xfrm>
          <a:prstGeom prst="rect">
            <a:avLst/>
          </a:prstGeom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138" y="1462088"/>
            <a:ext cx="342900" cy="342900"/>
          </a:xfrm>
          <a:prstGeom prst="ellipse">
            <a:avLst/>
          </a:prstGeom>
          <a:solidFill>
            <a:srgbClr val="D2A14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5356" y="1995376"/>
            <a:ext cx="2633662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完整资格收束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5356" y="2262411"/>
            <a:ext cx="2633662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进一步提升学科深度，与 AS 合并形成完整 A-Level 资格；重点转向真题、弱项补救和 offer 条件达成。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81633"/>
            <a:ext cx="800100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3"/>
              </a:lnSpc>
              <a:buNone/>
            </a:pPr>
            <a:r>
              <a:rPr lang="en-US" sz="19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A-Level 不是高考英语版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81000" y="710468"/>
            <a:ext cx="800100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国际版也不是本土版的翻版；真正的差异在选课逻辑、考试结构、评价口径和升学解释。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1000" y="1190625"/>
            <a:ext cx="4114800" cy="3533775"/>
          </a:xfrm>
          <a:prstGeom prst="roundRect">
            <a:avLst>
              <a:gd name="adj" fmla="val 558"/>
            </a:avLst>
          </a:prstGeom>
          <a:solidFill>
            <a:srgbClr val="E6F5FA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788" y="1347527"/>
            <a:ext cx="37052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A-Level / 国际版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788" y="1650913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3-4 门深度学习，专业要求倒推选课和学习深度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5788" y="1848631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paper / component 分卷，训练要对齐卷面结构和 AO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5788" y="2046350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A* 到 U 等级制，等级边界看每一季 official threshold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5788" y="2244068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syllabus 是教学标准，教材只是资源之一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48200" y="1190625"/>
            <a:ext cx="4114800" cy="3533775"/>
          </a:xfrm>
          <a:prstGeom prst="roundRect">
            <a:avLst>
              <a:gd name="adj" fmla="val 558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2987" y="1347527"/>
            <a:ext cx="37052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高考 / 本土惯性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52987" y="1650913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多科综合，分数和志愿匹配更集中，路径更统一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52987" y="1848631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容易按校内进度组织课堂，忽略 paper 差异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52987" y="2046350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容易用百分比、排名或校内分数解释国际等级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52987" y="2244068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容易把教材目录、讲义顺序误认为考试局标准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09463"/>
            <a:ext cx="80010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6"/>
              </a:lnSpc>
              <a:buNone/>
            </a:pPr>
            <a:r>
              <a:rPr lang="en-US" sz="2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A-Level、AP 与 IB DP：差异与优势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775097"/>
            <a:ext cx="80010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不是“谁更高级”，而是学生画像、升学目的地和学校资源条件不同。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1781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87" y="163353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7519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A-Level｜少而深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7519" y="2350145"/>
            <a:ext cx="231933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3-4 门核心科目，专业匹配强；外部考试评价清晰，适合较早形成方向、英港新澳路径明确的学生。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26594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1513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63" y="163353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2331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AP｜灵活补充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12331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更像大学先修考试；适合美国语境下补强学术挑战度，但通常要与 GPA、活动、文书共同解释。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071406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56362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12" y="163353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7144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IB DP｜全人框架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57144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六大学科组 + TOK/EE/CAS，综合素养强；但师资协同、内部评估和学生负荷要求都更高。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81633"/>
            <a:ext cx="800100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3"/>
              </a:lnSpc>
              <a:buNone/>
            </a:pPr>
            <a:r>
              <a:rPr lang="en-US" sz="19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三种国际课程怎么选：适配而非高低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81000" y="710468"/>
            <a:ext cx="800100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选体系不要只问“哪个更好”，要问学生是否适配、目标国家是否匹配、学校能否稳定交付。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1000" y="1190625"/>
            <a:ext cx="4114800" cy="3533775"/>
          </a:xfrm>
          <a:prstGeom prst="roundRect">
            <a:avLst>
              <a:gd name="adj" fmla="val 558"/>
            </a:avLst>
          </a:prstGeom>
          <a:solidFill>
            <a:srgbClr val="E6F5FA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788" y="1347527"/>
            <a:ext cx="37052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学生与升学适配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788" y="1650913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A-Level：适合较早形成专业方向、希望少而深推进的学生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5788" y="1848631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AP：适合作为美国申请语境下的学术挑战补充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5788" y="2046350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IB DP：适合能力均衡、时间管理强、愿意持续写作和反思的学生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5788" y="2244068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转轨学生常需要先收窄不确定性，再逐步拓展背景证据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48200" y="1190625"/>
            <a:ext cx="4114800" cy="3533775"/>
          </a:xfrm>
          <a:prstGeom prst="roundRect">
            <a:avLst>
              <a:gd name="adj" fmla="val 558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2987" y="1347527"/>
            <a:ext cx="37052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学校交付适配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52987" y="1650913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A-Level 可从优势学科切入，资源配置相对聚焦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52987" y="1848631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 需要和校内 GPA、英文写作、活动和申请叙事配合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52987" y="2046350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IB DP 是系统工程，需要 IA、EE、CAS、教师培训和质量保障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52987" y="2244068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开课决策要看师资、教务管理、学生基础和长期资料库能力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09463"/>
            <a:ext cx="80010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6"/>
              </a:lnSpc>
              <a:buNone/>
            </a:pPr>
            <a:r>
              <a:rPr lang="en-US" sz="2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三考试局怎么看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775097"/>
            <a:ext cx="80010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本校主线是 CAIE，其他考试局只作参照；资源、卷号、评分口径不能混用。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1781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87" y="163353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7519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CAIE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7519" y="2350145"/>
            <a:ext cx="231933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本校课程、考务、教研主线；备课、报名、mock、成绩解释和资料库优先按 CAIE 口径运行。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26594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1513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63" y="163353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2331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Edexcel IAL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12331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模块化路线参照；Unit 分阶段报考逻辑可用于理解差异，但题型、评分、合分不能直接套用。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071406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56362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12" y="163353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7144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OxfordAQA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57144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补充了解国际课程生态；是否适用必须核验授权、科目覆盖、syllabus、paper 和大学认可口径。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72108"/>
            <a:ext cx="800100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3"/>
              </a:lnSpc>
              <a:buNone/>
            </a:pPr>
            <a:r>
              <a:rPr lang="en-US" sz="19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CAIE 授权是一套运行承诺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81000" y="700943"/>
            <a:ext cx="800100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授权不是品牌标签，而是学校、教师、学生和升学共同遵守的一套运行规则。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1000" y="119062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7687" y="132873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837" y="1385888"/>
            <a:ext cx="142875" cy="1428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7688" y="165269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学校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7688" y="1856705"/>
            <a:ext cx="38100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课程设置、排课、报名、考试安全、成绩报告按 CAIE 流程管理；教务与学科组要协同。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4619625" y="119062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86313" y="132873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463" y="1385888"/>
            <a:ext cx="142875" cy="1428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6313" y="165269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教师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86313" y="185819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syllabus 而非教材目录备课；每节课要能对应 topic、AO、paper 和可观察的学习证据。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381000" y="300037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7687" y="313848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" y="3195638"/>
            <a:ext cx="142875" cy="1428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7688" y="346244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学生与家长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47688" y="3666455"/>
            <a:ext cx="38100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参加外部考试局统一评价；成绩具有国际认可度，但平时学习必须持续积累证据和反馈。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4619625" y="300037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86313" y="313848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463" y="3195638"/>
            <a:ext cx="142875" cy="1428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86313" y="346244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升学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786313" y="366794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成绩可用于英国、香港、新加坡、澳洲、美国等路径；不同目的地解释逻辑不同，需提前规划。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72108"/>
            <a:ext cx="800100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3"/>
              </a:lnSpc>
              <a:buNone/>
            </a:pPr>
            <a:r>
              <a:rPr lang="en-US" sz="19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CAIE 文件系统地图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81000" y="700943"/>
            <a:ext cx="800100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老师不必马上掌握所有细节，但要知道每类问题该查哪份官方文件。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1000" y="119062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7687" y="132873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837" y="1385888"/>
            <a:ext cx="142875" cy="1428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7688" y="165269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Syllabus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7688" y="185819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确认教什么、考什么、AO 是什么、paper 怎么构成；每学期初必读，改版年份必须核验。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4619625" y="119062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86313" y="132873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463" y="1385888"/>
            <a:ext cx="142875" cy="1428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6313" y="165269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Timetable / Entry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86313" y="185819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确认考试时间、administrative zone、component、entry option 与报名截止日期；影响倒排进度。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381000" y="300037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7687" y="313848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" y="3195638"/>
            <a:ext cx="142875" cy="1428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7688" y="346244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Past Paper 三件套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47688" y="366794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past paper 看题型，mark scheme 看得分点，examiner report 看常见误区；三件套一起使用。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4619625" y="300037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86313" y="313848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463" y="3195638"/>
            <a:ext cx="142875" cy="1428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86313" y="346244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Threshold / Hub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786313" y="366794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 official threshold 解释等级边界；用 School Support Hub 建立资源入口和资料库版本管理。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09575"/>
            <a:ext cx="8001000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考试季、Zone 与 Entry Option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819150"/>
            <a:ext cx="8001000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教学进度从考试窗口倒推，报名从 entry option 开始；任何变更都要早于 deadline。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0181" y="1457660"/>
            <a:ext cx="2871788" cy="1081087"/>
          </a:xfrm>
          <a:prstGeom prst="rect">
            <a:avLst/>
          </a:prstGeom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5763" y="1462088"/>
            <a:ext cx="342900" cy="342900"/>
          </a:xfrm>
          <a:prstGeom prst="ellipse">
            <a:avLst/>
          </a:prstGeom>
          <a:solidFill>
            <a:srgbClr val="D2A14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7844" y="1626394"/>
            <a:ext cx="2290762" cy="14288"/>
          </a:xfrm>
          <a:prstGeom prst="rect">
            <a:avLst/>
          </a:prstGeom>
          <a:solidFill>
            <a:srgbClr val="D2A148"/>
          </a:solidFill>
          <a:ln/>
        </p:spPr>
      </p:sp>
      <p:sp>
        <p:nvSpPr>
          <p:cNvPr id="8" name="Text 6"/>
          <p:cNvSpPr/>
          <p:nvPr/>
        </p:nvSpPr>
        <p:spPr>
          <a:xfrm>
            <a:off x="384944" y="1995376"/>
            <a:ext cx="2633662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考试季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944" y="2262411"/>
            <a:ext cx="2633662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June 是主考试季，November 可作为补考或阶段窗口；年度 topic map、mock 和补弱都要倒排。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50369" y="1457660"/>
            <a:ext cx="2871788" cy="1081087"/>
          </a:xfrm>
          <a:prstGeom prst="rect">
            <a:avLst/>
          </a:prstGeom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5913" y="1462088"/>
            <a:ext cx="342900" cy="342900"/>
          </a:xfrm>
          <a:prstGeom prst="ellipse">
            <a:avLst/>
          </a:prstGeom>
          <a:solidFill>
            <a:srgbClr val="D2A14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98032" y="1626394"/>
            <a:ext cx="2290762" cy="14288"/>
          </a:xfrm>
          <a:prstGeom prst="rect">
            <a:avLst/>
          </a:prstGeom>
          <a:solidFill>
            <a:srgbClr val="D2A148"/>
          </a:solidFill>
          <a:ln/>
        </p:spPr>
      </p:sp>
      <p:sp>
        <p:nvSpPr>
          <p:cNvPr id="13" name="Text 11"/>
          <p:cNvSpPr/>
          <p:nvPr/>
        </p:nvSpPr>
        <p:spPr>
          <a:xfrm>
            <a:off x="3255132" y="1995376"/>
            <a:ext cx="2633662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Administrative Zone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55132" y="2262411"/>
            <a:ext cx="2633662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中国大陆使用本 zone 官方 timetable；zone 影响考试日期和报名安排，不改变 syllabus 内容。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0594" y="1457660"/>
            <a:ext cx="2643188" cy="1081087"/>
          </a:xfrm>
          <a:prstGeom prst="rect">
            <a:avLst/>
          </a:prstGeom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138" y="1462088"/>
            <a:ext cx="342900" cy="342900"/>
          </a:xfrm>
          <a:prstGeom prst="ellipse">
            <a:avLst/>
          </a:prstGeom>
          <a:solidFill>
            <a:srgbClr val="D2A14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5356" y="1995376"/>
            <a:ext cx="2633662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Entry Option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5356" y="2262411"/>
            <a:ext cx="2633662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教务、学科组、班主任和升学共同确认 component、deadline、重考策略和学生申请路径。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10208"/>
            <a:ext cx="8001000" cy="319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3"/>
              </a:lnSpc>
              <a:buNone/>
            </a:pPr>
            <a:r>
              <a:rPr lang="en-US" sz="2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试卷命名与 Paper / Component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786854"/>
            <a:ext cx="8001000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5"/>
              </a:lnSpc>
              <a:buNone/>
            </a:pPr>
            <a:r>
              <a:rPr lang="en-US" sz="11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先看课程代码，再看卷号，再看 component 组合；不要只凭文件名或题型猜。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1000" y="1433513"/>
            <a:ext cx="4114800" cy="3219450"/>
          </a:xfrm>
          <a:prstGeom prst="roundRect">
            <a:avLst>
              <a:gd name="adj" fmla="val 67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4837" y="1628775"/>
            <a:ext cx="381000" cy="381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562" y="1714500"/>
            <a:ext cx="209550" cy="2095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4838" y="2143385"/>
            <a:ext cx="36671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4"/>
              </a:lnSpc>
              <a:buNone/>
            </a:pPr>
            <a:r>
              <a:rPr lang="en-US" sz="12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读懂编号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4838" y="2411164"/>
            <a:ext cx="3667125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9709 是数学 syllabus code；12 / 32 是 paper variant；June 2026 指考试季和年份；variant 与 zone 有关。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48200" y="1433513"/>
            <a:ext cx="4114800" cy="3219450"/>
          </a:xfrm>
          <a:prstGeom prst="roundRect">
            <a:avLst>
              <a:gd name="adj" fmla="val 67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72038" y="1628775"/>
            <a:ext cx="381000" cy="381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763" y="1714500"/>
            <a:ext cx="209550" cy="2095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72038" y="2143385"/>
            <a:ext cx="36671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4"/>
              </a:lnSpc>
              <a:buNone/>
            </a:pPr>
            <a:r>
              <a:rPr lang="en-US" sz="12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反推教学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72038" y="2411164"/>
            <a:ext cx="3667125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 assessment structure、topic map、卷面时长、分值和 AO；再安排课堂顺序、作业结构和 mock 组合。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09575"/>
            <a:ext cx="8001000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合分逻辑与 Grade Threshold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819150"/>
            <a:ext cx="8001000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最终等级不是简单加总，A 不一定永远是 80%；老师要用官方口径解释成绩。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0181" y="1457660"/>
            <a:ext cx="2871788" cy="1081087"/>
          </a:xfrm>
          <a:prstGeom prst="rect">
            <a:avLst/>
          </a:prstGeom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5763" y="1462088"/>
            <a:ext cx="342900" cy="342900"/>
          </a:xfrm>
          <a:prstGeom prst="ellipse">
            <a:avLst/>
          </a:prstGeom>
          <a:solidFill>
            <a:srgbClr val="D2A14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7844" y="1626394"/>
            <a:ext cx="2290762" cy="14288"/>
          </a:xfrm>
          <a:prstGeom prst="rect">
            <a:avLst/>
          </a:prstGeom>
          <a:solidFill>
            <a:srgbClr val="D2A148"/>
          </a:solidFill>
          <a:ln/>
        </p:spPr>
      </p:sp>
      <p:sp>
        <p:nvSpPr>
          <p:cNvPr id="8" name="Text 6"/>
          <p:cNvSpPr/>
          <p:nvPr/>
        </p:nvSpPr>
        <p:spPr>
          <a:xfrm>
            <a:off x="384944" y="1995376"/>
            <a:ext cx="2633662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Raw Mark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944" y="2262411"/>
            <a:ext cx="2633662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先得到每个 component 的 raw mark，例如 Paper 1、Paper 3、Practical 或 Essay paper 的原始分。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50369" y="1457660"/>
            <a:ext cx="2871788" cy="1081087"/>
          </a:xfrm>
          <a:prstGeom prst="rect">
            <a:avLst/>
          </a:prstGeom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5913" y="1462088"/>
            <a:ext cx="342900" cy="342900"/>
          </a:xfrm>
          <a:prstGeom prst="ellipse">
            <a:avLst/>
          </a:prstGeom>
          <a:solidFill>
            <a:srgbClr val="D2A14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98032" y="1626394"/>
            <a:ext cx="2290762" cy="14288"/>
          </a:xfrm>
          <a:prstGeom prst="rect">
            <a:avLst/>
          </a:prstGeom>
          <a:solidFill>
            <a:srgbClr val="D2A148"/>
          </a:solidFill>
          <a:ln/>
        </p:spPr>
      </p:sp>
      <p:sp>
        <p:nvSpPr>
          <p:cNvPr id="13" name="Text 11"/>
          <p:cNvSpPr/>
          <p:nvPr/>
        </p:nvSpPr>
        <p:spPr>
          <a:xfrm>
            <a:off x="3255132" y="1995376"/>
            <a:ext cx="2633662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Weighted Total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55132" y="2262411"/>
            <a:ext cx="2633662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不同 component 可能按权重换算，形成 syllabus total；mock 设计要尽量模拟真实权重。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0594" y="1457660"/>
            <a:ext cx="2643188" cy="1081087"/>
          </a:xfrm>
          <a:prstGeom prst="rect">
            <a:avLst/>
          </a:prstGeom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138" y="1462088"/>
            <a:ext cx="342900" cy="342900"/>
          </a:xfrm>
          <a:prstGeom prst="ellipse">
            <a:avLst/>
          </a:prstGeom>
          <a:solidFill>
            <a:srgbClr val="D2A14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5356" y="1995376"/>
            <a:ext cx="2633662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Threshold → Grade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5356" y="2262411"/>
            <a:ext cx="2633662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对照具体 series 的 official threshold 得到 A* / A / B 等级；校内百分比只能辅助判断。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10208"/>
            <a:ext cx="8001000" cy="3190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3"/>
              </a:lnSpc>
              <a:buNone/>
            </a:pPr>
            <a:r>
              <a:rPr lang="en-US" sz="2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IG 的桥梁功能与年度节奏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786854"/>
            <a:ext cx="8001000" cy="1952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5"/>
              </a:lnSpc>
              <a:buNone/>
            </a:pPr>
            <a:r>
              <a:rPr lang="en-US" sz="11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IG 不是“低配版 A-Level”，而是把学生从中文校内学习带到国际课程学习状态。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1000" y="1433513"/>
            <a:ext cx="4114800" cy="3219450"/>
          </a:xfrm>
          <a:prstGeom prst="roundRect">
            <a:avLst>
              <a:gd name="adj" fmla="val 67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4837" y="1628775"/>
            <a:ext cx="381000" cy="381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562" y="1714500"/>
            <a:ext cx="209550" cy="2095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4838" y="2143385"/>
            <a:ext cx="36671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4"/>
              </a:lnSpc>
              <a:buNone/>
            </a:pPr>
            <a:r>
              <a:rPr lang="en-US" sz="12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五个桥梁功能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4838" y="2411164"/>
            <a:ext cx="3667125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语言衔接、学术表达、考试方式、实验与数据、学习习惯共同决定学生能否进入 A-Level 状态。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48200" y="1433513"/>
            <a:ext cx="4114800" cy="3219450"/>
          </a:xfrm>
          <a:prstGeom prst="roundRect">
            <a:avLst>
              <a:gd name="adj" fmla="val 67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72038" y="1628775"/>
            <a:ext cx="381000" cy="381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763" y="1714500"/>
            <a:ext cx="209550" cy="2095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872038" y="2143385"/>
            <a:ext cx="36671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4"/>
              </a:lnSpc>
              <a:buNone/>
            </a:pPr>
            <a:r>
              <a:rPr lang="en-US" sz="12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一年制节奏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872038" y="2411164"/>
            <a:ext cx="3667125" cy="300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8"/>
              </a:lnSpc>
              <a:buNone/>
            </a:pPr>
            <a:r>
              <a:rPr lang="en-US" sz="9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8-9 月诊断分层；10-2 月推进 topic 与补弱；3-6 月真题、mock 与国际考；暑期复盘选课和升学方向。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09463"/>
            <a:ext cx="80010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6"/>
              </a:lnSpc>
              <a:buNone/>
            </a:pPr>
            <a:r>
              <a:rPr lang="en-US" sz="2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入学诊断看五个维度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775097"/>
            <a:ext cx="80010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分层不是凭感觉，而是为了让教学起点、补弱重点和家校沟通更精准。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1781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87" y="163353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7519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基础与英语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7519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看数学、科学、阅读基础，也看题干理解、术语掌握、课堂表达和英文书写速度。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26594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1513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63" y="163353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2331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习惯与实验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12331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通过学习日志、观察、错题复盘和简单实验任务，判断预习、改错、变量和数据处理起点。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071406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56362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12" y="163353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7144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目标方向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57144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用学生意向和家长访谈识别理工、商科、人文、艺术等路径；为选课、竞赛和活动做前置判断。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09463"/>
            <a:ext cx="80010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6"/>
              </a:lnSpc>
              <a:buNone/>
            </a:pPr>
            <a:r>
              <a:rPr lang="en-US" sz="2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IG 学科功能地图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775097"/>
            <a:ext cx="80010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每门学科都承担升学铺垫功能；老师要能说清本学科给未来路径提供什么证据。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1781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87" y="163353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7519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数学与英语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7519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数学是理工商科底层基础；英语是题干理解、课堂表达、essay 写作和申请材料的共同工具。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26594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1513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63" y="163353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2331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理科方向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12331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物理支撑工程与计算机，化学支撑医学药学，生物支撑生命科学与医学；实验和数据要提前训练。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071406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56362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12" y="163353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7144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人文社科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57144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中文、经济、历史等支撑表达、文化理解、商科和社会科学方向；重点看阅读、论证和写作质量。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81633"/>
            <a:ext cx="800100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3"/>
              </a:lnSpc>
              <a:buNone/>
            </a:pPr>
            <a:r>
              <a:rPr lang="en-US" sz="19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英语支架与实验能力要贯穿全年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81000" y="710468"/>
            <a:ext cx="800100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学科英语不是多背单词，实验也不是考前做几次；两者都要进入日常课堂结构。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1000" y="1190625"/>
            <a:ext cx="4114800" cy="3533775"/>
          </a:xfrm>
          <a:prstGeom prst="roundRect">
            <a:avLst>
              <a:gd name="adj" fmla="val 558"/>
            </a:avLst>
          </a:prstGeom>
          <a:solidFill>
            <a:srgbClr val="E6F5FA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788" y="1347527"/>
            <a:ext cx="37052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英语分层支架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788" y="1650913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档：原版题、英文追问、扩展表达、课堂 presentation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5788" y="1848631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 档：双语术语表、关键词板书、答题句式和段落模板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5788" y="2046350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 档：预习词表、短句输入、图示化讲解、跟读复述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5788" y="2244068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撤支架标志：能独立完成英文 structured question 并解释思路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48200" y="1190625"/>
            <a:ext cx="4114800" cy="3533775"/>
          </a:xfrm>
          <a:prstGeom prst="roundRect">
            <a:avLst>
              <a:gd name="adj" fmla="val 558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2987" y="1347527"/>
            <a:ext cx="37052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实验能力训练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52987" y="1650913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变量控制、数据记录、图像处理要在 topic 中反复出现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52987" y="1848631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误差分析、表达规范、安全意识要用 rubric 固化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52987" y="2046350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IG 阶段建立实验思维和数据素养，避免 A-Level 临时补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52987" y="2244068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训练频率回到各科 syllabus、paper 要求和校内实验条件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09463"/>
            <a:ext cx="80010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6"/>
              </a:lnSpc>
              <a:buNone/>
            </a:pPr>
            <a:r>
              <a:rPr lang="en-US" sz="2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学科菜单、启动策略与选课逻辑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775097"/>
            <a:ext cx="80010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55 门学科不等于都要开；学校开课要看师资、学生画像、升学方向和可持续教研。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1781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87" y="163353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7519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启动刚需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7519" y="2350145"/>
            <a:ext cx="231933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Mathematics、English、Physics / Chemistry / Biology 先保证核心方向能跑；排课和教师储备优先。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26594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1513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63" y="163353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2331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升学支撑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12331" y="2350145"/>
            <a:ext cx="231933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Further Mathematics、Computer Science、Economics 结合师资、学生基础和升学方向评估启动时机。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071406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56362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12" y="163353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7144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特色拓展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57144" y="2350145"/>
            <a:ext cx="231933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Chinese、Art &amp; Design、Psychology、Business 可丰富学科菜单和差异化画像，但要配套作品/项目证据。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09463"/>
            <a:ext cx="80010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6"/>
              </a:lnSpc>
              <a:buNone/>
            </a:pPr>
            <a:r>
              <a:rPr lang="en-US" sz="2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常见选课组合地图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775097"/>
            <a:ext cx="80010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组合不是模板承诺，但能帮助老师快速识别硬门槛、强建议和潜在错配。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1781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87" y="163353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7519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医学 / 工程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7519" y="2350145"/>
            <a:ext cx="231933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医学常见 Chemistry + Biology + Mathematics；工程重视 Mathematics、Physics 与 Further Mathematics。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26594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1513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63" y="163353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2331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商科 / 计算机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12331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商科金融看数学和数据意识；计算机看数学、项目经历、算法与逻辑，不能只靠“会用电脑”。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071406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56362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12" y="163353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7144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人文 / 艺术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57144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人文看阅读写作、论证和批判性思维；艺术设计看作品集、过程表达、项目调研和迭代能力。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09463"/>
            <a:ext cx="80010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6"/>
              </a:lnSpc>
              <a:buNone/>
            </a:pPr>
            <a:r>
              <a:rPr lang="en-US" sz="2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五方向选课速查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775097"/>
            <a:ext cx="80010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给老师的课堂判断法：先看硬门槛，再看强建议，最后看学生证据是否足够。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1781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87" y="163353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7519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医学 / 生命科学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7519" y="2350145"/>
            <a:ext cx="231933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硬门槛：Chemistry 常为必选，Biology / Maths 高相关；证据：UCAT / 面试、志愿服务、实验与阅读记录。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26594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1513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63" y="163353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2331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 / 计算机 / 商科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12331" y="2350145"/>
            <a:ext cx="231933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底座：Maths 是共同语言，工程偏 Physics，CS 偏逻辑项目，金融商科重数据与建模，不是避开数学。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071406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56362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12" y="163353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7144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法律 / 人文 / 艺术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57144" y="2350145"/>
            <a:ext cx="231933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重点：阅读写作、论证与作品过程；证据：essay、reading log、作品集 research、课堂展示和反馈迭代。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81633"/>
            <a:ext cx="800100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3"/>
              </a:lnSpc>
              <a:buNone/>
            </a:pPr>
            <a:r>
              <a:rPr lang="en-US" sz="19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好组合不是照抄，而是匹配目标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81000" y="710468"/>
            <a:ext cx="800100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选课会直接影响可申请专业；建议把每次选课沟通做成可追踪的“目标—要求—证据”记录。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1000" y="1190625"/>
            <a:ext cx="4114800" cy="3533775"/>
          </a:xfrm>
          <a:prstGeom prst="roundRect">
            <a:avLst>
              <a:gd name="adj" fmla="val 558"/>
            </a:avLst>
          </a:prstGeom>
          <a:solidFill>
            <a:srgbClr val="E6F5FA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788" y="1347527"/>
            <a:ext cx="37052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常见误区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788" y="1650913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只按同伴或热门选择，漏掉 required subject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5788" y="1848631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只看学生喜欢，不核验专业先修与考试要求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5788" y="2046350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以为高分可以弥补科目错配或材料空白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5788" y="2244068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 后才想专业，导致补课、转轨和预估分被动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48200" y="1190625"/>
            <a:ext cx="4114800" cy="3533775"/>
          </a:xfrm>
          <a:prstGeom prst="roundRect">
            <a:avLst>
              <a:gd name="adj" fmla="val 558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2987" y="1347527"/>
            <a:ext cx="37052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查询路径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52987" y="1650913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先定国家/专业族：医、工、商、法、人文、艺术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52987" y="1848631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 university + course 页面的 required / preferred subjects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52987" y="2046350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核验 tests、interview、portfolio、English 与 deadline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52987" y="2244068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形成冲稳保清单：目标分、证据缺口、下月动作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9CC4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76250"/>
            <a:ext cx="8382000" cy="34766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同一套 A-Level 成绩，</a:t>
            </a:r>
            <a:pPr algn="l" indent="0" marL="0">
              <a:buNone/>
            </a:pPr>
            <a:endParaRPr lang="en-US" sz="37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在五个目的地里</a:t>
            </a:r>
            <a:pPr algn="l" indent="0" marL="0">
              <a:buNone/>
            </a:pPr>
            <a:endParaRPr lang="en-US" sz="3700" dirty="0"/>
          </a:p>
          <a:p>
            <a:pPr algn="l" indent="0" marL="0">
              <a:lnSpc>
                <a:spcPts val="45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会被五种申请逻辑解释。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381000" y="4181475"/>
            <a:ext cx="5700713" cy="5334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EAF9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英国看专业匹配，香港看综合竞争，新加坡看高门槛，澳洲看资格换算，美国看整体画像。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09463"/>
            <a:ext cx="80010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6"/>
              </a:lnSpc>
              <a:buNone/>
            </a:pPr>
            <a:r>
              <a:rPr lang="en-US" sz="2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五大方向一页总览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775097"/>
            <a:ext cx="80010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同一份成绩在不同地区会被不同逻辑解释；老师要知道课堂证据最终会进入哪类申请材料。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1781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87" y="163353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7519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英国 / 香港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7519" y="2351559"/>
            <a:ext cx="2319337" cy="5429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英国：course-based，重 required subjects、predicted grades、PS 与 reference。香港：non-JUPAS，成绩、英语、活动、面试、轮次一起看。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26594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1513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63" y="163353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2331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新加坡 / 澳洲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12331" y="2350145"/>
            <a:ext cx="231933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新加坡：热门专业高等级竞争，prerequisites 很硬。澳洲：看换算、英语、先修和入学季，适合稳妥但不能随意选科。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071406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56362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12" y="163353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7144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美国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57144" y="2350145"/>
            <a:ext cx="231933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美国：holistic review 看课程挑战度、GPA/预估、活动主线、文书、推荐、school profile；老师要持续留下成长证据。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72108"/>
            <a:ext cx="800100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3"/>
              </a:lnSpc>
              <a:buNone/>
            </a:pPr>
            <a:r>
              <a:rPr lang="en-US" sz="19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牛娃成长路径：英港顶尖方向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81000" y="700943"/>
            <a:ext cx="800100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目标牛剑、港前三：不是只拼高分，而是让成绩、专业动机、学术证据和表达能力同时成立。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1000" y="119062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7687" y="132873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837" y="1385888"/>
            <a:ext cx="142875" cy="1428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7688" y="165269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IG 阶段｜定底座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7688" y="185819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目标：核心科目 A/A*，AS 数学建议在 IG 阶段提前完成；建立 reading log、课堂问答、高阶作业和实验档案。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4619625" y="119062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86313" y="132873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463" y="1385888"/>
            <a:ext cx="142875" cy="1428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6313" y="165269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 阶段｜定专业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86313" y="185819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目标：AS / mock A-A*。动作：锁定专业族，查牛剑/G5/港前三要求；留痕：PS 素材、推荐信证据、面试题库。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381000" y="300037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7687" y="313848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" y="3195638"/>
            <a:ext cx="142875" cy="1428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7688" y="346244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 阶段｜冲顶尖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47688" y="366794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目标：A*AA-A*A*A。动作：真题限时、supervision 面试、笔试训练；留痕：mock 曲线、错因表、预估分依据。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4619625" y="300037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86313" y="313848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463" y="3195638"/>
            <a:ext cx="142875" cy="1428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86313" y="346244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升学结果｜强梯度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786313" y="366794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冲刺：牛剑、港前三。主申：G5 强专业、港前五。保底：英国 Top 10-20；原则：高冲要配强稳，不做单点押注。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72108"/>
            <a:ext cx="800100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3"/>
              </a:lnSpc>
              <a:buNone/>
            </a:pPr>
            <a:r>
              <a:rPr lang="en-US" sz="19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普娃成长路径：英港稳健方向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81000" y="700943"/>
            <a:ext cx="800100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 G5 可冲、港前五重点布局：关键是补短板、稳曲线、选对专业宽口径并保留转圜空间。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1000" y="119062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7687" y="132873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837" y="1385888"/>
            <a:ext cx="142875" cy="1428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7688" y="165269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IG 阶段｜补漏洞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7688" y="185819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目标：核心科目 B-A 且持续上升。动作：补概念、术语、计算/写作习惯；留痕：诊断表、错题本、单元测进步。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4619625" y="119062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86313" y="132873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463" y="1385888"/>
            <a:ext cx="142875" cy="1428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6313" y="165269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 阶段｜建曲线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86313" y="185819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目标：AAB-AAA。动作：保住 required subjects，选择容错更高专业族；留痕：topic test、mock 曲线、月度风险表。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381000" y="300037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7687" y="313848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" y="3195638"/>
            <a:ext cx="142875" cy="1428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7688" y="346244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AL 阶段｜稳结果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47688" y="366794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目标：AAA/AAB 以上。动作：past paper 分类刷、mark scheme 对标、弱项小循环；留痕：真题分项、反馈记录、材料清单。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4619625" y="300037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86313" y="313848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463" y="3195638"/>
            <a:ext cx="142875" cy="1428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86313" y="346244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升学结果｜重梯度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786313" y="366794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冲刺：G5 个别专业、港前五。主申：英国 Top 10-20、港校多专业。保底：Top 30 / 澳洲方案，避免临时降档。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72108"/>
            <a:ext cx="800100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3"/>
              </a:lnSpc>
              <a:buNone/>
            </a:pPr>
            <a:r>
              <a:rPr lang="en-US" sz="19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英国路径：UCAS 与时间线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81000" y="700943"/>
            <a:ext cx="800100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拍照速记：英国申请看“专业要求 + 预估分 + 推荐证据 + 截止时间”，每一项都要提前在课堂中留痕。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1000" y="119062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7687" y="132873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837" y="1385888"/>
            <a:ext cx="142875" cy="1428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7688" y="165269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UCAS 机制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7688" y="185819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最多 5 个 choices，按 course 申请；常见 conditional offer：A*AA / AAA / AAB；医学最多 4 个医学 choice。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4619625" y="119062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86313" y="132873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463" y="1385888"/>
            <a:ext cx="142875" cy="1428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6313" y="165269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专业要求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86313" y="185819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逐页查 required / preferred subjects；医学 UCAT、法律 LNAT、牛剑 admissions test / interview 要提前倒排。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381000" y="300037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7687" y="313848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" y="3195638"/>
            <a:ext cx="142875" cy="1428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7688" y="346244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时间节点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47688" y="366794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Y12 暑期定稿专业和素材；9-10 月早申请；1 月多数 UCAS 截止；5-6 月考试后跟进 offer 条件。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4619625" y="300037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86313" y="313848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463" y="3195638"/>
            <a:ext cx="142875" cy="1428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86313" y="346244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学校支持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786313" y="366794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学校要提供：预估分依据、reference 素材、mock 曲线、真题反馈、选课风险记录和家校沟通纪要。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81633"/>
            <a:ext cx="800100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3"/>
              </a:lnSpc>
              <a:buNone/>
            </a:pPr>
            <a:r>
              <a:rPr lang="en-US" sz="19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港新路径：同为高竞争，重点不同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81000" y="710468"/>
            <a:ext cx="800100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两地都不能只看最低要求；老师要关注“高等级成绩、英语、专业匹配、面试/材料证据”是否同步到位。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1000" y="1190625"/>
            <a:ext cx="4114800" cy="3533775"/>
          </a:xfrm>
          <a:prstGeom prst="roundRect">
            <a:avLst>
              <a:gd name="adj" fmla="val 558"/>
            </a:avLst>
          </a:prstGeom>
          <a:solidFill>
            <a:srgbClr val="E6F5FA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788" y="1347527"/>
            <a:ext cx="37052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香港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788" y="1652141"/>
            <a:ext cx="3705225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路径：HKU / CUHK / HKUST 等走 international / non-JUPAS，专业独立审核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5788" y="1979675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硬核：A-Level、英语、PS、推荐、活动、面试共同评估，港前三竞争尤其强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5788" y="2177393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策略：早轮次 + 多专业 + 多梯度；最低要求只是门槛，不是安全线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5788" y="2375111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老师贡献：推荐信素材、课堂表现、面试表达、专业阅读与项目记录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48200" y="1190625"/>
            <a:ext cx="4114800" cy="3533775"/>
          </a:xfrm>
          <a:prstGeom prst="roundRect">
            <a:avLst>
              <a:gd name="adj" fmla="val 558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2987" y="1347527"/>
            <a:ext cx="37052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新加坡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52987" y="1650913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路径：NUS / NTU / SMU / SUTD 多为官网独立申请，热门专业筛选强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52987" y="1848631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硬核：高等级成绩 + prerequisites + 英语要求；理工医商不能科目错配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52987" y="2046350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策略：三门强成绩配专业先修，同时联动英国/香港/澳洲作为梯度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52987" y="2244068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老师贡献：高阶题训练、实验/项目证据、英文表达和校内成绩解释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81633"/>
            <a:ext cx="800100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3"/>
              </a:lnSpc>
              <a:buNone/>
            </a:pPr>
            <a:r>
              <a:rPr lang="en-US" sz="19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澳美路径：两个最容易被误解的方向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81000" y="710468"/>
            <a:ext cx="800100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澳洲不是“随便保底”，美国也不是“活动越多越好”；两者都需要早期证据积累。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1000" y="1190625"/>
            <a:ext cx="4114800" cy="3533775"/>
          </a:xfrm>
          <a:prstGeom prst="roundRect">
            <a:avLst>
              <a:gd name="adj" fmla="val 558"/>
            </a:avLst>
          </a:prstGeom>
          <a:solidFill>
            <a:srgbClr val="E6F5FA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788" y="1347527"/>
            <a:ext cx="37052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澳洲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788" y="1652141"/>
            <a:ext cx="3705225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澳洲看 A-Level 换算为 selection rank / indicative score，不同大学专业口径不同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5788" y="1979675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医学、工程、商科仍要查 prerequisite subjects、英语和可能的面试/测试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5788" y="2177393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适合做稳妥路径：可设计多入学季、多校区、多专业梯度，但科目不能断底座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5788" y="2375111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老师留痕：换算表、先修清单、英语风险、成绩提升线和选课建议记录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48200" y="1190625"/>
            <a:ext cx="4114800" cy="3533775"/>
          </a:xfrm>
          <a:prstGeom prst="roundRect">
            <a:avLst>
              <a:gd name="adj" fmla="val 558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2987" y="1347527"/>
            <a:ext cx="37052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美国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52987" y="1652141"/>
            <a:ext cx="3705225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美国走 Common App 等平台；课程挑战度、成绩和 school profile 是基础解释框架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52987" y="1979675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活动要有主线：项目深度、角色贡献、影响证据，比数量堆叠更重要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52987" y="2177393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文书和推荐依赖长期材料：课堂讨论、研究写作、领导力、失败后的改进记录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52987" y="2375111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老师留痕：transcript 解释、推荐素材、项目反馈、阅读写作样本和成长案例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72108"/>
            <a:ext cx="800100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3"/>
              </a:lnSpc>
              <a:buNone/>
            </a:pPr>
            <a:r>
              <a:rPr lang="en-US" sz="19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课后背景提升模块一：学科竞赛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81000" y="700943"/>
            <a:ext cx="800100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竞赛不是堆奖项，而是证明目标专业方向上的学术潜力和持续投入。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1000" y="119062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7687" y="132873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837" y="1385888"/>
            <a:ext cx="142875" cy="1428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7688" y="165269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数理计算机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7688" y="185819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UKMT/BMO、AMC/AIME、Bebras、BIO、USACO 等；证明数学推理、算法思维和抗压解题。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4619625" y="119062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86313" y="132873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463" y="1385888"/>
            <a:ext cx="142875" cy="1428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6313" y="165269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物理化学生物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86313" y="185819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BPhO、Physics Bowl、UKChO、BBO、Brain Bee 等；证明建模、实验理解、科学阅读和分析能力。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381000" y="300037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7687" y="313848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" y="3195638"/>
            <a:ext cx="142875" cy="1428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7688" y="346244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经济商科金融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47688" y="366794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IEO、NEC、商业案例、投资分析模拟；重点看数据、案例分析和商业表达，避免空泛包装。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4619625" y="300037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86313" y="313848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463" y="3195638"/>
            <a:ext cx="142875" cy="1428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86313" y="346244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人文法律社科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786313" y="366794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John Locke Essay、辩论、公共政策案例；文章质量、论证深度和思想表达比“参加过”更重要。</a:t>
            </a:r>
            <a:endParaRPr lang="en-US" sz="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72108"/>
            <a:ext cx="800100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3"/>
              </a:lnSpc>
              <a:buNone/>
            </a:pPr>
            <a:r>
              <a:rPr lang="en-US" sz="19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学科竞赛方向速查：数理科学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81000" y="700943"/>
            <a:ext cx="800100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竞赛选择先看专业方向，再看学生能力边界，最后看能否留下过程证据。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1000" y="119062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7687" y="132873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837" y="1385888"/>
            <a:ext cx="142875" cy="1428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7688" y="165269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数学 / 统计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7688" y="185819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UKMT 系列、BMO、AMC / AIME、欧几里得；证明抽象推理、抗压解题，适合数学、经济、CS、工程。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4619625" y="119062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86313" y="132873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463" y="1385888"/>
            <a:ext cx="142875" cy="1428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6313" y="165269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计算机 / 数据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86313" y="185819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Bebras、British Informatics Olympiad、USACO、CCC；看算法思维、编程能力和问题拆解。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381000" y="300037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7687" y="313848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" y="3195638"/>
            <a:ext cx="142875" cy="1428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7688" y="346244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物理 / 工程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47688" y="366794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British Physics Olympiad、Physics Bowl、IYPT、工程设计挑战；证明建模、实验理解和工程解决能力。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4619625" y="300037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86313" y="313848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463" y="3195638"/>
            <a:ext cx="142875" cy="1428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86313" y="346244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化学 / 材料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786313" y="366794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UK Chemistry Olympiad、加拿大化学竞赛、化学实验挑战；要和 A-Level Chemistry 主线衔接，避免超纲失控。</a:t>
            </a:r>
            <a:endParaRPr lang="en-US" sz="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09463"/>
            <a:ext cx="80010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6"/>
              </a:lnSpc>
              <a:buNone/>
            </a:pPr>
            <a:r>
              <a:rPr lang="en-US" sz="2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学科竞赛方向速查：生命、商科与人文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775097"/>
            <a:ext cx="80010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奖项本身不是目的，能否支撑专业兴趣、阅读表达和推荐信证据更重要。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1781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87" y="163353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7519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生物 / 医学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7519" y="2350145"/>
            <a:ext cx="231933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British Biology Olympiad、Brain Bee、iGEM 相关训练；证明生命科学理解、阅读意识，也要结合伦理、沟通和面试素材。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26594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1513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63" y="163353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2331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经济 / 商科 / 金融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12331" y="2350145"/>
            <a:ext cx="231933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IEO、NEC、商业案例挑战、投资分析模拟；看经济直觉、案例分析和商业表达，避免空泛商业包装。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071406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56362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12" y="163353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7144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人文 / 法律 / 社科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57144" y="2350145"/>
            <a:ext cx="231933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John Locke Essay、Marshall Society Essay、辩论、公共政策案例；文章质量和思想深度比“参加过”更重要。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09463"/>
            <a:ext cx="80010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6"/>
              </a:lnSpc>
              <a:buNone/>
            </a:pPr>
            <a:r>
              <a:rPr lang="en-US" sz="2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竞赛定位与留痕：不同学生不同用法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775097"/>
            <a:ext cx="80010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不要让竞赛变成奖项焦虑；没有复盘、阅读和表达沉淀的奖项，对申请帮助有限。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1781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87" y="163353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7519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顶尖申请学生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7519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作用：证明学科天赋、超纲探索和高压表现。留痕：训练记录、错题复盘、获奖证书、解题思路。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26594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1513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63" y="163353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2331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稳健申请学生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12331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作用：建立专业兴趣证据，支持 PS / 推荐信。留痕：参赛过程、阅读笔记、阶段性反馈。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071406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56362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12" y="163353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7144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方向未定学生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57144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作用：用低风险竞赛测试兴趣和能力边界。留痕：体验反思、适配判断、后续选课建议。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72108"/>
            <a:ext cx="800100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3"/>
              </a:lnSpc>
              <a:buNone/>
            </a:pPr>
            <a:r>
              <a:rPr lang="en-US" sz="19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课后背景提升模块二：牛剑笔试常识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81000" y="700943"/>
            <a:ext cx="800100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顶尖申请不只看 A-Level 成绩，部分专业会用笔试进一步区分高分学生。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1000" y="119062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7687" y="132873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837" y="1385888"/>
            <a:ext cx="142875" cy="1428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7688" y="165269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为什么有笔试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7688" y="185819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用于区分高分学生，考迁移、推理、限时决策和陌生问题处理，可能影响面试或录取竞争力。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4619625" y="119062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86313" y="132873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463" y="1385888"/>
            <a:ext cx="142875" cy="1428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6313" y="165269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数理工方向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86313" y="185819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MAT、STEP、TMUA、ESAT 等常见于数学、计算机、工程；重点看高阶数学和问题解决。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381000" y="300037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7687" y="313848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" y="3195638"/>
            <a:ext cx="142875" cy="1428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7688" y="346244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医学法律社科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47688" y="3666455"/>
            <a:ext cx="38100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UCAT、LNAT、TSA 等关注情境判断、阅读论证、数据材料分析和批判性思维。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4619625" y="300037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86313" y="313848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463" y="3195638"/>
            <a:ext cx="142875" cy="1428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86313" y="346244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老师提醒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786313" y="3667944"/>
            <a:ext cx="3810000" cy="24288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 暑假到申请季前后核验目标专业要求；具体名称、报名和时间以大学官网当年要求为准。</a:t>
            </a:r>
            <a:endParaRPr lang="en-US" sz="7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72108"/>
            <a:ext cx="800100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3"/>
              </a:lnSpc>
              <a:buNone/>
            </a:pPr>
            <a:r>
              <a:rPr lang="en-US" sz="19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牛剑笔试方向速查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81000" y="700943"/>
            <a:ext cx="800100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不同专业对应不同笔试，不能笼统说“准备牛剑考试”；名称和要求每年以官网为准。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1000" y="119062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7687" y="132873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837" y="1385888"/>
            <a:ext cx="142875" cy="1428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7688" y="165269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数理工 / 计算机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7688" y="1856705"/>
            <a:ext cx="38100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MAT、STEP、TMUA、ESAT 等；主要考高阶数学、逻辑推理、限时决策和问题解决。</a:t>
            </a:r>
            <a:endParaRPr lang="en-US" sz="700" dirty="0"/>
          </a:p>
        </p:txBody>
      </p:sp>
      <p:sp>
        <p:nvSpPr>
          <p:cNvPr id="10" name="Shape 7"/>
          <p:cNvSpPr/>
          <p:nvPr/>
        </p:nvSpPr>
        <p:spPr>
          <a:xfrm>
            <a:off x="4619625" y="119062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86313" y="132873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3463" y="1385888"/>
            <a:ext cx="142875" cy="1428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6313" y="165269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医学 / 生物医学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786313" y="1856705"/>
            <a:ext cx="38100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UCAT 等医学相关测试；关注情境判断、科学阅读、医学素养和沟通潜力。</a:t>
            </a:r>
            <a:endParaRPr lang="en-US" sz="700" dirty="0"/>
          </a:p>
        </p:txBody>
      </p:sp>
      <p:sp>
        <p:nvSpPr>
          <p:cNvPr id="15" name="Shape 11"/>
          <p:cNvSpPr/>
          <p:nvPr/>
        </p:nvSpPr>
        <p:spPr>
          <a:xfrm>
            <a:off x="381000" y="300037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7687" y="313848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37" y="3195638"/>
            <a:ext cx="142875" cy="14287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7688" y="346244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法律 / 社科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547688" y="3666455"/>
            <a:ext cx="38100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LNAT、TSA、经济数学相关测试；看阅读理解、论证分析、材料分析和批判性思维。</a:t>
            </a:r>
            <a:endParaRPr lang="en-US" sz="700" dirty="0"/>
          </a:p>
        </p:txBody>
      </p:sp>
      <p:sp>
        <p:nvSpPr>
          <p:cNvPr id="20" name="Shape 15"/>
          <p:cNvSpPr/>
          <p:nvPr/>
        </p:nvSpPr>
        <p:spPr>
          <a:xfrm>
            <a:off x="4619625" y="3000375"/>
            <a:ext cx="4143375" cy="1714500"/>
          </a:xfrm>
          <a:prstGeom prst="roundRect">
            <a:avLst>
              <a:gd name="adj" fmla="val 2370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86313" y="3138488"/>
            <a:ext cx="257175" cy="257175"/>
          </a:xfrm>
          <a:prstGeom prst="roundRect">
            <a:avLst>
              <a:gd name="adj" fmla="val 11523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3463" y="3195638"/>
            <a:ext cx="142875" cy="1428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86313" y="3462449"/>
            <a:ext cx="3810000" cy="1571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英文 / 历史 / 人文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786313" y="3666455"/>
            <a:ext cx="3810000" cy="1238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1"/>
              </a:lnSpc>
              <a:buNone/>
            </a:pPr>
            <a:r>
              <a:rPr lang="en-US" sz="7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ELAT、HAT、MLAT 等；重文本分析、语言能力、论证表达和陌生材料处理。</a:t>
            </a:r>
            <a:endParaRPr lang="en-US" sz="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09463"/>
            <a:ext cx="80010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6"/>
              </a:lnSpc>
              <a:buNone/>
            </a:pPr>
            <a:r>
              <a:rPr lang="en-US" sz="2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课后背景提升模块三：科研、夏校与阅读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775097"/>
            <a:ext cx="80010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核心不是包装经历，而是形成真实兴趣、学术表达和可调用证据链。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1781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87" y="163353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7519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科研｜看过程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7519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把兴趣问题变成研究报告、展示海报、口头汇报和推荐信素材；避免只追求导师头衔或挂名。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26594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1513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63" y="163353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2331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夏校｜看匹配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12331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体验大学课堂、专业内容和英文讨论；产出课程作业、课堂反馈、反思记录和选课判断。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071406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56362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12" y="163353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7144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阅读｜看深度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57144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 PS、面试、推荐信和课堂讨论提供素材；要有笔记、概念卡、问题清单、书评或分享。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09463"/>
            <a:ext cx="80010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6"/>
              </a:lnSpc>
              <a:buNone/>
            </a:pPr>
            <a:r>
              <a:rPr lang="en-US" sz="2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背景提升证据链：五个判断标准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775097"/>
            <a:ext cx="80010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最有价值的不是“做过什么”，而是能否讲清楚为什么做、怎么做、学到什么、下一步是什么。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1781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87" y="163353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7519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 / 相关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7519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真实：学生能讲清自己做了什么。相关：活动与目标专业、选课组合、申请叙事能连起来。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26594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1513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63" y="163353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2331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 / 可表达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12331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持续：不是一次性打卡。可表达：能转化为 PS、面试、推荐信或课堂讨论素材。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071406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56362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12" y="163353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7144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可留痕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57144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有阅读笔记、项目报告、反馈记录、作品、展示材料或 seminar 分享，能进入学生成长档案。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381633"/>
            <a:ext cx="8001000" cy="2809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23"/>
              </a:lnSpc>
              <a:buNone/>
            </a:pPr>
            <a:r>
              <a:rPr lang="en-US" sz="19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背景提升常见误区：别把经历做空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81000" y="710468"/>
            <a:ext cx="8001000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0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科研、夏校和阅读都要服务主线：科目成绩、专业匹配、学术证据和申请表达。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81000" y="1190625"/>
            <a:ext cx="4114800" cy="3533775"/>
          </a:xfrm>
          <a:prstGeom prst="roundRect">
            <a:avLst>
              <a:gd name="adj" fmla="val 558"/>
            </a:avLst>
          </a:prstGeom>
          <a:solidFill>
            <a:srgbClr val="E6F5FA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788" y="1347527"/>
            <a:ext cx="37052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常见误区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788" y="1650913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科研只追求导师头衔或挂名项目，没有真实过程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85788" y="1848631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把名校夏校等同于名校录取保障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5788" y="2046350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阅读只列书单，不做笔记、不形成观点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85788" y="2244068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活动碎片化堆叠，无法服务同一个专业方向问题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648200" y="1190625"/>
            <a:ext cx="4114800" cy="3533775"/>
          </a:xfrm>
          <a:prstGeom prst="roundRect">
            <a:avLst>
              <a:gd name="adj" fmla="val 558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52987" y="1347527"/>
            <a:ext cx="3705225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有效做法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52987" y="1650913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科研产出研究报告、展示海报、口头汇报和推荐素材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52987" y="1848631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夏校沉淀课程作业、课堂反馈、反思记录和选课判断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52987" y="2046350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阅读形成概念卡片、问题清单、书评和 seminar 分享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52987" y="2244068"/>
            <a:ext cx="3705225" cy="1333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32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建立证据档案：竞赛、阅读、项目、夏校、课堂表现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09463"/>
            <a:ext cx="80010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6"/>
              </a:lnSpc>
              <a:buNone/>
            </a:pPr>
            <a:r>
              <a:rPr lang="en-US" sz="2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老师不是升学顾问，但课堂会影响申请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775097"/>
            <a:ext cx="80010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老师最有价值的贡献，是把学生真实能力变化变成可信证据。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1781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87" y="163353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7519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选课与预估分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7519" y="2350145"/>
            <a:ext cx="231933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mock、topic test、作业质量要能解释 predicted grade；发现专业错配，尽早同步班主任和升学老师。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26594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1513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63" y="163353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2331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档案与推荐信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12331" y="2350145"/>
            <a:ext cx="231933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记录提问、阅读、实验、论文、项目、presentation、协作和改进轨迹；推荐信要有具体能力案例。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071406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56362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12" y="163353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7144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校内协同闭环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57144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月度同步成绩曲线、选课风险、材料证据、家校沟通和下月动作，形成可复用成长档案。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09575"/>
            <a:ext cx="8001000" cy="3333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备课闭环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819150"/>
            <a:ext cx="8001000" cy="200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备课闭环要从“讲什么”升级为“学生产生什么证据”。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0181" y="1457660"/>
            <a:ext cx="2871788" cy="1081087"/>
          </a:xfrm>
          <a:prstGeom prst="rect">
            <a:avLst/>
          </a:prstGeom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5763" y="1462088"/>
            <a:ext cx="342900" cy="342900"/>
          </a:xfrm>
          <a:prstGeom prst="ellipse">
            <a:avLst/>
          </a:prstGeom>
          <a:solidFill>
            <a:srgbClr val="D2A14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27844" y="1626394"/>
            <a:ext cx="2290762" cy="14288"/>
          </a:xfrm>
          <a:prstGeom prst="rect">
            <a:avLst/>
          </a:prstGeom>
          <a:solidFill>
            <a:srgbClr val="D2A148"/>
          </a:solidFill>
          <a:ln/>
        </p:spPr>
      </p:sp>
      <p:sp>
        <p:nvSpPr>
          <p:cNvPr id="8" name="Text 6"/>
          <p:cNvSpPr/>
          <p:nvPr/>
        </p:nvSpPr>
        <p:spPr>
          <a:xfrm>
            <a:off x="384944" y="1995376"/>
            <a:ext cx="2633662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Syllabus → Topic Map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944" y="2262411"/>
            <a:ext cx="2633662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 aims、content、AO 与 paper structure，转化为年度 topic map、课时安排和阶段性产出。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50369" y="1457660"/>
            <a:ext cx="2871788" cy="1081087"/>
          </a:xfrm>
          <a:prstGeom prst="rect">
            <a:avLst/>
          </a:prstGeom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55913" y="1462088"/>
            <a:ext cx="342900" cy="342900"/>
          </a:xfrm>
          <a:prstGeom prst="ellipse">
            <a:avLst/>
          </a:prstGeom>
          <a:solidFill>
            <a:srgbClr val="D2A14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98032" y="1626394"/>
            <a:ext cx="2290762" cy="14288"/>
          </a:xfrm>
          <a:prstGeom prst="rect">
            <a:avLst/>
          </a:prstGeom>
          <a:solidFill>
            <a:srgbClr val="D2A148"/>
          </a:solidFill>
          <a:ln/>
        </p:spPr>
      </p:sp>
      <p:sp>
        <p:nvSpPr>
          <p:cNvPr id="13" name="Text 11"/>
          <p:cNvSpPr/>
          <p:nvPr/>
        </p:nvSpPr>
        <p:spPr>
          <a:xfrm>
            <a:off x="3255132" y="1995376"/>
            <a:ext cx="2633662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Lesson → Practice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55132" y="2262411"/>
            <a:ext cx="2633662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设计课堂任务、语言支架、实验/数据任务和 topic-based paper 训练，不只讲完教材。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120594" y="1457660"/>
            <a:ext cx="2643188" cy="1081087"/>
          </a:xfrm>
          <a:prstGeom prst="rect">
            <a:avLst/>
          </a:prstGeom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138" y="1462088"/>
            <a:ext cx="342900" cy="342900"/>
          </a:xfrm>
          <a:prstGeom prst="ellipse">
            <a:avLst/>
          </a:prstGeom>
          <a:solidFill>
            <a:srgbClr val="D2A14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5356" y="1995376"/>
            <a:ext cx="2633662" cy="171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9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Mock → Feedback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5356" y="2262411"/>
            <a:ext cx="2633662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 mark scheme、examiner report 与 threshold 复盘，形成错因分类、补弱计划和下次备课调整。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09463"/>
            <a:ext cx="80010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6"/>
              </a:lnSpc>
              <a:buNone/>
            </a:pPr>
            <a:r>
              <a:rPr lang="en-US" sz="2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真题、评价与资料库是一体的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775097"/>
            <a:ext cx="80010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没有记录，评价不能变成改进；没有资料库，教研不能复用，也无法支撑预估分和推荐信。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1781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87" y="163353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7519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真题三件套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7519" y="2350145"/>
            <a:ext cx="231933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Past Paper 看题型与难度，Mark Scheme 看得分点，Examiner Report 看常见失分；三件套必须配套使用。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26594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1513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63" y="163353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2331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评价体系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12331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课堂小测、单元测、实验任务、mock 与个体反馈要对应不同层级；评价后必须有补弱动作。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071406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56362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12" y="163353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7144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资料库结构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57144" y="2350145"/>
            <a:ext cx="231933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沉淀 syllabus、topic map、papers、mark schemes、thresholds、tracking、university requirements 和学生证据。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09463"/>
            <a:ext cx="80010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6"/>
              </a:lnSpc>
              <a:buNone/>
            </a:pPr>
            <a:r>
              <a:rPr lang="en-US" sz="2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教师问题回收与专题排期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775097"/>
            <a:ext cx="80010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培训不能停在 PPT，要转化为后续学科组行动。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1781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87" y="163353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7519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资源交付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7519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一周内收集各科 syllabus、paper、mark scheme；先完成每科“最小可用资料包”。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26594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1513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63" y="163353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2331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教学交付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12331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两周内完成学科 topic map 初稿；一月内建立 mock 节点、评价表和反馈模板。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071406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56362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12" y="163353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7144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支架交付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57144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下阶段推进学科深讲、课型观摩、资料库共建、升学案例复盘和学生成长档案。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09463"/>
            <a:ext cx="80010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6"/>
              </a:lnSpc>
              <a:buNone/>
            </a:pPr>
            <a:r>
              <a:rPr lang="en-US" sz="2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教师拍照留存总表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775097"/>
            <a:ext cx="80010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一页记住老师在 A-Level 体系中的日常动作：查规则、看学生、做课堂、留证据、接升学。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1781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87" y="163353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7519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查规则 / 看学生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7519" y="2350145"/>
            <a:ext cx="231933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 syllabus、timetable、entry option、threshold、university course page；看基础、英语、习惯、实验、目标方向。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26594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1513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63" y="163353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2331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做课堂 / 留证据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12331" y="2350145"/>
            <a:ext cx="231933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做语言支架、topic 训练、实验数据、真题反馈、错因分类；留 mock 曲线、作业样例、阅读/实验记录。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071406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56362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12" y="163353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7144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接升学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57144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把选课风险、预估分依据、推荐信素材、专业匹配记录同步给班主任和升学老师。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09463"/>
            <a:ext cx="80010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6"/>
              </a:lnSpc>
              <a:buNone/>
            </a:pPr>
            <a:r>
              <a:rPr lang="en-US" sz="2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学生风险识别清单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775097"/>
            <a:ext cx="80010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老师拍照后可用于月度沟通：发现风险越早，调整成本越低。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1781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87" y="163353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7519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科目 / 数学风险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7519" y="2350145"/>
            <a:ext cx="231933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科目错配：目标专业有 required subject 但学生未选。数学底座不足：商科、经济、工程、CS 却弱化数学。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26594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1513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63" y="163353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2331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英语 / 证据风险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12331" y="2350145"/>
            <a:ext cx="231933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英语支架不足：能听懂课堂但不能独立完成英文题。证据不足：缺阅读、项目、实验、写作或面试素材。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071406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56362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12" y="163353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7144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时间线风险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57144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 后才定专业，导致补材料和调方向被动；申请季再补背景提升，通常太晚。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381000" y="409463"/>
            <a:ext cx="8001000" cy="30956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36"/>
              </a:lnSpc>
              <a:buNone/>
            </a:pPr>
            <a:r>
              <a:rPr lang="en-US" sz="2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学科组资料库目录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81000" y="775097"/>
            <a:ext cx="8001000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100" dirty="0">
                <a:solidFill>
                  <a:srgbClr val="17495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资料库不是文件堆积，而是支撑备课、评价、预估分、推荐信和家校沟通的工作系统。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81781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738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987" y="1633538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7519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教学文件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67519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syllabus 摘要与 AO 对照表；02 年度 topic map 与课时表；03 past paper 按 topic 分类。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26594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1513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63" y="1633538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12331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评价文件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412331" y="2350145"/>
            <a:ext cx="2319337" cy="4095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mark scheme 得分点拆解；05 examiner report 常见失分；06 grade threshold 与 mock 解释。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6071406" y="1352550"/>
            <a:ext cx="2690812" cy="3381375"/>
          </a:xfrm>
          <a:prstGeom prst="roundRect">
            <a:avLst>
              <a:gd name="adj" fmla="val 962"/>
            </a:avLst>
          </a:prstGeom>
          <a:solidFill>
            <a:srgbClr val="F2FAFD"/>
          </a:solidFill>
          <a:ln w="4763">
            <a:solidFill>
              <a:srgbClr val="2D9CC4">
                <a:alpha val="18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56362" y="1538287"/>
            <a:ext cx="419100" cy="419100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4763">
            <a:solidFill>
              <a:srgbClr val="D2A148">
                <a:alpha val="35000"/>
              </a:srgbClr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1612" y="163353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57144" y="2099258"/>
            <a:ext cx="2319337" cy="1762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72"/>
              </a:lnSpc>
              <a:buNone/>
            </a:pPr>
            <a:r>
              <a:rPr lang="en-US" sz="1100" b="1" dirty="0">
                <a:solidFill>
                  <a:srgbClr val="123A4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升学与证据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57144" y="2351112"/>
            <a:ext cx="2319337" cy="2714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00" dirty="0">
                <a:solidFill>
                  <a:srgbClr val="2028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学生 tracking 表；08 升学专业要求速查；09 推荐信素材与课堂证据样例。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9CC4"/>
          </a:solidFill>
          <a:ln/>
        </p:spPr>
      </p:sp>
      <p:sp>
        <p:nvSpPr>
          <p:cNvPr id="3" name="Text 1"/>
          <p:cNvSpPr/>
          <p:nvPr/>
        </p:nvSpPr>
        <p:spPr>
          <a:xfrm>
            <a:off x="190500" y="95250"/>
            <a:ext cx="8763000" cy="1000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800" b="1" dirty="0">
                <a:solidFill>
                  <a:srgbClr val="D2A14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Thank you!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190500" y="4129608"/>
            <a:ext cx="3386138" cy="8239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EAF9F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统一口径，再进入执行。后续路径：学科深讲 -&gt; 真题包建设 -&gt; 课型观摩 -&gt; 资料库共建 -&gt; 教研常态运行。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2026-06-28T15:32:40Z</dcterms:created>
  <dcterms:modified xsi:type="dcterms:W3CDTF">2026-06-28T15:32:40Z</dcterms:modified>
</cp:coreProperties>
</file>